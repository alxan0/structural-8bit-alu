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64592" cy="2468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EAEEF7"/>
                </a:solidFill>
                <a:latin typeface="Calibri"/>
              </a:rPr>
              <a:t>Structural 8-bit ALU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A8B2C8"/>
                </a:solidFill>
                <a:latin typeface="Calibri"/>
              </a:rPr>
              <a:t>A Verilog implementation: add / sub / Booth multiply / radix-2 divide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A8B2C8"/>
                </a:solidFill>
                <a:latin typeface="Calibri"/>
              </a:rPr>
              <a:t>Computer Architecture  •  University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Calibri"/>
              </a:rPr>
              <a:t>Repository: Structural-8bit-ALU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What we will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Project scope and external interface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Top-level architecture and dataflow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Control unit FSM (IDLE / LOAD / EXEC / DONE)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Add/Subtract engine (carry-select adder + XOR word-gate)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Booth radix-4 multiplier engine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Radix-2 restoring divider engine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Common structural building blocks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Verification: testbench operations and example results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Performance, latency and trade-offs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1. Scope and Functional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Two 8-bit operands: A_raw, B_raw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2-bit opcode selects operation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Unified 16-bit result bus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Handshake protocol: start → done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Status flags: carry_out, overflow (add/sub)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Fully structural Verilog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097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Calibri"/>
              </a:rPr>
              <a:t>Opcode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691640"/>
            <a:ext cx="38404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CDE8FF"/>
                </a:solidFill>
                <a:latin typeface="Consolas"/>
              </a:rPr>
              <a:t>00 → ADD     result = A + B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CDE8FF"/>
                </a:solidFill>
                <a:latin typeface="Consolas"/>
              </a:rPr>
              <a:t>01 → SUB     result = A - B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CDE8FF"/>
                </a:solidFill>
                <a:latin typeface="Consolas"/>
              </a:rPr>
              <a:t>10 → MUL     result = A * B (signed)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CDE8FF"/>
                </a:solidFill>
                <a:latin typeface="Consolas"/>
              </a:rPr>
              <a:t>11 → DIV     result = {rem, quot}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2. External Interface (alu_top)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731520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70408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module alu_top (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input             clk,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input             rst,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input             start,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input  [1:0]      opcode,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input  [7:0]      A_raw,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input  [7:0]      B_raw,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output wire [15:0] result,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output            carry_out,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output            overflow,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    output            done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CDE8FF"/>
                </a:solidFill>
                <a:latin typeface="Consolas"/>
              </a:rP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clk: rising-edge sampled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rst: async, active high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start: 1-cycle pulse OK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opcode: 2-bit selector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result: encoding depends on opcode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done: asserted in DONE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3. Top-Level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alu_top integrates control + datapath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EAEEF7"/>
                </a:solidFill>
                <a:latin typeface="Calibri"/>
              </a:rPr>
              <a:t>• Opcode decode → engine select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AEEF7"/>
                </a:solidFill>
                <a:latin typeface="Calibri"/>
              </a:rPr>
              <a:t>• Operand capture in register_8bit (×2)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AEEF7"/>
                </a:solidFill>
                <a:latin typeface="Calibri"/>
              </a:rPr>
              <a:t>• Dispatch start to selected engine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AEEF7"/>
                </a:solidFill>
                <a:latin typeface="Calibri"/>
              </a:rPr>
              <a:t>• Merge engine busy/done into FSM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AEEF7"/>
                </a:solidFill>
                <a:latin typeface="Calibri"/>
              </a:rPr>
              <a:t>• Merge engine results into one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170432"/>
            <a:ext cx="5340096" cy="4882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Top-level block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10972800" cy="512064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10826496" cy="4974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3.1 Top-Level Structural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alu_top.v — module instantiations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11430000" cy="530352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control_unit brain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.clk(clk), .rst(rst), .start(start),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.exec_done(effective_done), .exec_busy(effective_busy),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.load_en(load_en), .exec_start(exec_start), .done(done));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register_8bit reg_A (.clk(clk), .rst(rst), .load_en(load_en),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                .data_in(A_raw), .data_out(A_internal));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register_8bit reg_B (.clk(clk), .rst(rst), .load_en(load_en),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                .data_in(B_raw), .data_out(B_internal));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adder_substractor add_sub_unit (.clk(clk), .rst(rst), .start(exec_start),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.op1(A_internal), .op2(B_internal),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.enable(sel_addsub), .sub_mode(sel_sub),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.busy(addsub_busy), .done(addsub_done),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.c_out(addsub_cout), .overflow(addsub_overflow), .result(addsub_result));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booth_radix_4_multiplier mul_unit (.clk(clk), .rst(rst), .start(exec_start),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.multiplicand(A_internal), .multiplier(B_internal),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.enable(sel_mul), .busy(mul_busy), .done(mul_done), .product(mul_result));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radix2_div div_unit (.clk(clk), .reset(rst), .start(exec_start &amp; sel_div),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.dividend(A_internal), .divisor(B_internal),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.quotient(div_quotient), .remainder(div_remainder),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.ready(div_ready), .done(div_done));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// Result MUX built from two structural mux2to1 instances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mux2to1 #(.w(16)) mux_result_muldiv (.in0(mul_result),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.in1({div_remainder, div_quotient}), .sel(opcode[0]), .out(result_muldiv));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mux2to1 #(.w(16)) mux_result        (.in0({8'b0, addsub_result}),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.in1(result_muldiv), .sel(opcode[1]), .out(result));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4. Control Unit FSM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src/control/control_unit.v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713232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68580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localparam IDLE=2'b00, LOAD=2'b01,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       EXEC=2'b10, DONE=2'b11;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reg [1:0] state, next_state;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always @(posedge clk or posedge rst)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if (rst) state &lt;= IDLE;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else     state &lt;= next_state;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always @(*) case (state)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IDLE: next_state = start     ? LOAD : IDLE;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LOAD: next_state = EXEC;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EXEC: next_state = exec_done ? DONE : EXEC;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DONE: next_state = start     ? DONE : IDLE;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endcase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always @(*) begin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load_en    = (state == LOAD);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exec_start = (state == EXEC) &amp;&amp; !exec_busy &amp;&amp; !exec_done;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done       = (state == DONE);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IDLE → wait for start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LOAD → latch A_raw, B_raw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EXEC → drive engine, wait for done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DONE → assert top-level done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Transitions on rising clk edge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Async reset returns FSM to 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5. Add / Subtract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adder_substractor.v (structural)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731520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0408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// op2_xor = op2 XOR {8{sub_mode}}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xor_wordgate #(.w(8)) gate (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.in(op2), .bit_in(sub_mode), .out(op2_xor)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// 8-bit add: result = op1 + op2_xor + sub_mode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carry_select_adder add (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.op1(op1), .op2(op2_xor),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.c_in(sub_mode),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.result(adder_result),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.c_out(adder_c_out)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assign overflow_raw =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(op1[7] == op2_xor[7]) &amp;&amp;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(adder_result[7] != op1[7]);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Two's complement add/sub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sub_mode = 0: A + 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sub_mode = 1: A + ~B + 1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Carry-select adder core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1-cycle done pulse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Status: carry, signed overflow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6. Booth Radix-4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booth_radix_4_multiplier.v (structural add path)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731520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0408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// Booth recoding selects operand and sub flag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case (y_ext[2:0])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3'b001,3'b010: begin booth_operand=x_shift; booth_sub=0; end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3'b011       : begin booth_operand=x2;      booth_sub=0; end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3'b100       : begin booth_operand=x2;      booth_sub=1; end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3'b101,3'b110: begin booth_operand=x_shift; booth_sub=1; end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default      : begin booth_operand=16'b0;   booth_sub=0; end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endcase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// 16-bit accumulate built from two 8-bit carry-select adders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xor_wordgate #(.w(8)) inv_lo (.in(booth_operand[7:0]),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.bit_in(booth_sub), .out(booth_operand_xor[7:0]));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xor_wordgate #(.w(8)) inv_hi (.in(booth_operand[15:8]),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.bit_in(booth_sub), .out(booth_operand_xor[15:8]));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carry_select_adder add_lo (.op1(acc[7:0]),  .op2(booth_operand_xor[7:0]),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.c_in(booth_sub),  .result(add_lo_result), .c_out(add_lo_cout));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carry_select_adder add_hi (.op1(acc[15:8]), .op2(booth_operand_xor[15:8]),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  .c_in(add_lo_cout),.result(add_hi_result), .c_out(add_hi_cout));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1155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dirty="0">
                <a:solidFill>
                  <a:srgbClr val="EAEEF7"/>
                </a:solidFill>
                <a:latin typeface="Calibri"/>
              </a:rPr>
              <a:t>• Signed 8×8 → 16-bit</a:t>
            </a:r>
          </a:p>
          <a:p>
            <a:pPr algn="l">
              <a:spcAft>
                <a:spcPts val="600"/>
              </a:spcAft>
            </a:pPr>
            <a:r>
              <a:rPr sz="1400" dirty="0">
                <a:solidFill>
                  <a:srgbClr val="EAEEF7"/>
                </a:solidFill>
                <a:latin typeface="Calibri"/>
              </a:rPr>
              <a:t>• 4 recoding iterations</a:t>
            </a:r>
          </a:p>
          <a:p>
            <a:pPr algn="l">
              <a:spcAft>
                <a:spcPts val="600"/>
              </a:spcAft>
            </a:pPr>
            <a:r>
              <a:rPr sz="1400" dirty="0">
                <a:solidFill>
                  <a:srgbClr val="EAEEF7"/>
                </a:solidFill>
                <a:latin typeface="Calibri"/>
              </a:rPr>
              <a:t>• FSM: IDLE → CALC → FINISH</a:t>
            </a:r>
          </a:p>
          <a:p>
            <a:pPr algn="l">
              <a:spcAft>
                <a:spcPts val="600"/>
              </a:spcAft>
            </a:pPr>
            <a:r>
              <a:rPr sz="1400" dirty="0">
                <a:solidFill>
                  <a:srgbClr val="EAEEF7"/>
                </a:solidFill>
                <a:latin typeface="Calibri"/>
              </a:rPr>
              <a:t>• Reduces partial products vs. shift-add</a:t>
            </a:r>
          </a:p>
          <a:p>
            <a:pPr algn="l">
              <a:spcAft>
                <a:spcPts val="600"/>
              </a:spcAft>
            </a:pPr>
            <a:r>
              <a:rPr sz="1400" dirty="0">
                <a:solidFill>
                  <a:srgbClr val="EAEEF7"/>
                </a:solidFill>
                <a:latin typeface="Calibri"/>
              </a:rPr>
              <a:t>• Native signed 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7. Radix-2 Restoring Divider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Radix2.v (structural sub &amp; restore)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731520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0408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// shifted_A = {A[W-2:0], Q[W-1]}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wire [WIDTH-1:0] shifted_A = {A[WIDTH-2:0], Q[WIDTH-1]};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// M_inv = ~M  (for two's-complement subtract)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xor_wordgate #(.w(WIDTH)) neg_m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.in(M), .bit_in(1'b1), .out(M_inv));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// Trial subtract: shifted_A - M  =  shifted_A + ~M + 1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carry_select_adder sub_adder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.op1(shifted_A), .op2(M_inv), .c_in(1'b1),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.result(sub_result), .c_out(sub_cout));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// Restore path: sub_result + M  (used when subtract was negative)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carry_select_adder restore_adder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.op1(sub_result), .op2(M), .c_in(1'b0),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.result(restore_result), .c_out());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Unsigned, WIDTH = 8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Registers: A (rem), M (div), Q (quot)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1 quotient bit per cycle (8 cycles)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Result = {remainder, quotient}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No divide-by-zero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8. Common Structural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src/common/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full_adder_cell — 1-bit full adder primitive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ripple_carry_adder — parameterized ripple chain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adder_level — dual-carry precompute/select stage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carry_select_adder — 8-bit ripple + carry-select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xor_wordgate — word-wise XOR with replicated control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mux2to1 — generic 2:1 mux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register_8bit — operand storage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76072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// carry_select_adder.v (8-bit, structural)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module carry_select_adder(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input  [7:0] op1, op2,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input        c_in,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output [7:0] result,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output       c_out);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wire c_mid;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ripple_carry_adder #(.w(4)) least_significand_part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.op1(op1[3:0]), .op2(op2[3:0]),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.c_in(c_in),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.result(result[3:0]), .c_out(c_mid));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adder_level most_significand_part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.op1(op1[7:4]), .op2(op2[7:4]),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.c_in(c_mid),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.result(result[7:4]), .c_out(c_out));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endmodule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9. End-to-End Functional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1. start asserted with stable A_raw, B_raw, opcode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2. Control enters LOAD → operands latched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3. Control enters EXEC → exec_start to engine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4. Engine asserts local done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5. Control enters DONE → top-level done = 1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6. Caller deasserts start → return to 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10. Performance &amp;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Clock period = 10 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10515600" cy="32004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2412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CDE8FF"/>
                </a:solidFill>
                <a:latin typeface="Consolas"/>
              </a:rPr>
              <a:t>Operation   Engine cycles   Top-level cycles   Time @10ns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CDE8FF"/>
                </a:solidFill>
                <a:latin typeface="Consolas"/>
              </a:rPr>
              <a:t>ADD             1                4                40 ns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CDE8FF"/>
                </a:solidFill>
                <a:latin typeface="Consolas"/>
              </a:rPr>
              <a:t>SUB             1                4                40 ns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CDE8FF"/>
                </a:solidFill>
                <a:latin typeface="Consolas"/>
              </a:rPr>
              <a:t>MUL             6                9                90 ns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CDE8FF"/>
                </a:solidFill>
                <a:latin typeface="Consolas"/>
              </a:rPr>
              <a:t>DIV             9               12               120 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Add/Sub fastest: combinational datapath + handshake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Mul: 4 Booth iterations (radix-4 reduces count)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EEF7"/>
                </a:solidFill>
                <a:latin typeface="Calibri"/>
              </a:rPr>
              <a:t>• Div: 1 quotient bit per cycle + restore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11. Verification — Integrated Testbench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sim/alu_tb.v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777240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4980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task run_op;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input [7:0]      in_a, in_b;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input [1:0]      in_op;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input [15:0]     expected;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input [8*20-1:0] label;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begin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@(negedge clk);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A_raw=in_a; B_raw=in_b; opcode=in_op; start=1'b1;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@(negedge clk); start=1'b0;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wait (done == 1'b1); #1;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if (result !== expected)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  $fatal(1, "FAIL [%s]", label);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else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  $display("PASS [%0s]: A=%0d B=%0d result=%0d",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           label, in_a, in_b, result);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  wait (done == 1'b0);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  end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CDE8FF"/>
                </a:solidFill>
                <a:latin typeface="Consolas"/>
              </a:rPr>
              <a:t>endtask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AEEF7"/>
                </a:solidFill>
                <a:latin typeface="Calibri"/>
              </a:rPr>
              <a:t>• Drives all 4 opcodes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AEEF7"/>
                </a:solidFill>
                <a:latin typeface="Calibri"/>
              </a:rPr>
              <a:t>• Edge cases: 0, wrap, signed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AEEF7"/>
                </a:solidFill>
                <a:latin typeface="Calibri"/>
              </a:rPr>
              <a:t>• Self-checking: exp vs got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AEEF7"/>
                </a:solidFill>
                <a:latin typeface="Calibri"/>
              </a:rPr>
              <a:t>• Halts on FAIL via $fatal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AEEF7"/>
                </a:solidFill>
                <a:latin typeface="Calibri"/>
              </a:rPr>
              <a:t>• Generates alu_sim.vcd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11.1 Test Vectors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3949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// ADD (opcode 00)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ADD 5+3          → 8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ADD 100+55       → 155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ADD 255+1 wrap   → 0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ADD 128+128 wrap → 0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// SUB (opcode 01)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SUB 10-4         → 6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SUB 0-1 wrap     → 255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SUB 200-50       →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669280" cy="50292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53949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// MUL (opcode 10, signed Booth)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MUL 7*6          → 42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MUL 15*15        → 225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MUL 127*2        → 254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MUL -1*2 signed  → 0xFFFE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// DIV (opcode 11) → {rem, quot}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DIV 42/6         → {0, 7}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DIV 17/5         → {2, 3}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DIV 255/16       → {15, 15}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DIV 100/7        → {2, 14}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Example: ADD 5 + 3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Expected result =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run_op(8'd5, 8'd3, 2'b00,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   16'd8, "ADD 5+3");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PASS [ADD 5+3]: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A=5  B=3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result=8 (0x0008)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carry=0  ovf=0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097280"/>
            <a:ext cx="5943600" cy="502920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ve_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70432"/>
            <a:ext cx="5797296" cy="4882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6172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8B2C8"/>
                </a:solidFill>
                <a:latin typeface="Calibri"/>
              </a:rPr>
              <a:t>Cycle-accurate waveform of the ADD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Example: SUB 10 - 4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Expected result =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run_op(8'd10, 8'd4, 2'b01,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   16'd6, "SUB 10-4");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PASS [SUB 10-4]: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A=10  B=4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result=6 (0x0006)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carry=1  ovf=0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097280"/>
            <a:ext cx="5943600" cy="502920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ve_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70432"/>
            <a:ext cx="5797296" cy="4882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6172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8B2C8"/>
                </a:solidFill>
                <a:latin typeface="Calibri"/>
              </a:rPr>
              <a:t>Cycle-accurate waveform of the SUB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Example: MUL 15 ×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Expected result = 225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run_op(8'd15, 8'd15, 2'b10,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   16'd225, "MUL 15*15");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PASS [MUL 15*15]: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A=15  B=15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result=225 (0x00E1)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097280"/>
            <a:ext cx="5943600" cy="502920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ve_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70432"/>
            <a:ext cx="5797296" cy="4882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6172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8B2C8"/>
                </a:solidFill>
                <a:latin typeface="Calibri"/>
              </a:rPr>
              <a:t>Booth radix-4 multiplier (6 EXEC cycles)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Example: DIV 100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Expected = {rem=2, quot=14}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01626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run_op(8'd100, 8'd7, 2'b11,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     {8'd2, 8'd14}, "DIV 100/7");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PASS [DIV 100/7]: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A=100  B=7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result=0x020E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DE8FF"/>
                </a:solidFill>
                <a:latin typeface="Consolas"/>
              </a:rPr>
              <a:t>  rem=2  quot=14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097280"/>
            <a:ext cx="5943600" cy="502920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ve_d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70432"/>
            <a:ext cx="5797296" cy="4882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6172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8B2C8"/>
                </a:solidFill>
                <a:latin typeface="Calibri"/>
              </a:rPr>
              <a:t>Radix-2 restoring divider (9 EXEC cycles)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Simulation Run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Calibri"/>
              </a:rPr>
              <a:t>Console transcript from run.sh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5120640"/>
          </a:xfrm>
          <a:prstGeom prst="roundRect">
            <a:avLst>
              <a:gd name="adj" fmla="val 3000"/>
            </a:avLst>
          </a:prstGeom>
          <a:solidFill>
            <a:srgbClr val="1B2640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sole_tran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432"/>
            <a:ext cx="11100816" cy="4974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12. Algorithm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Add/Sub: carry-select adder — faster than ripple, more area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Multiply: Booth radix-4 — fewer iterations, signed-native, multi-cycle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Divide: radix-2 restoring — simple control, highest latency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Overall priority: structural clarity &amp; module reuse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EEF7"/>
                </a:solidFill>
                <a:latin typeface="Calibri"/>
              </a:rPr>
              <a:t>• Trade: not minimum latency, not maximum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EAEEF7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Fully structural 8-bit ALU in Verilog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Unified handshake (start/done) across 4 engines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Clear FSM control + reusable common primitives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Verified with self-checking integrated testbench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AEEF7"/>
                </a:solidFill>
                <a:latin typeface="Calibri"/>
              </a:rPr>
              <a:t>• Architecture captured in alu_architecture.circ (Logisim Evolution)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1B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EAEEF7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A8B2C8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8B2C8"/>
                </a:solidFill>
                <a:latin typeface="Calibri"/>
              </a:rPr>
              <a:t>Structural 8-bit ALU  •  Verilog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8B2C8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3163</Words>
  <Application>Microsoft Office PowerPoint</Application>
  <PresentationFormat>Widescreen</PresentationFormat>
  <Paragraphs>383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Dragos (Nokia)</cp:lastModifiedBy>
  <cp:revision>2</cp:revision>
  <dcterms:created xsi:type="dcterms:W3CDTF">2013-01-27T09:14:16Z</dcterms:created>
  <dcterms:modified xsi:type="dcterms:W3CDTF">2026-04-24T12:43:40Z</dcterms:modified>
  <cp:category/>
</cp:coreProperties>
</file>