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5C876-B2C2-4EF5-A62C-BA191824D0F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EA284-14D9-4AC7-A35C-D06F94524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5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EA284-14D9-4AC7-A35C-D06F94524F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90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EA284-14D9-4AC7-A35C-D06F94524F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88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96696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800" b="1" i="0">
                <a:solidFill>
                  <a:srgbClr val="EAEEF7"/>
                </a:solidFill>
                <a:latin typeface="Calibri"/>
              </a:rPr>
              <a:t>ALU Structural pe 8 Biți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926080"/>
            <a:ext cx="11460175" cy="1371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99669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0" i="0" dirty="0" err="1">
                <a:solidFill>
                  <a:srgbClr val="8A96B8"/>
                </a:solidFill>
                <a:latin typeface="Calibri"/>
              </a:rPr>
              <a:t>Arhitectură</a:t>
            </a:r>
            <a:r>
              <a:rPr sz="1800" b="0" i="0" dirty="0">
                <a:solidFill>
                  <a:srgbClr val="8A96B8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8A96B8"/>
                </a:solidFill>
                <a:latin typeface="Calibri"/>
              </a:rPr>
              <a:t>Structurală</a:t>
            </a:r>
            <a:r>
              <a:rPr sz="1800" b="0" i="0" dirty="0">
                <a:solidFill>
                  <a:srgbClr val="8A96B8"/>
                </a:solidFill>
                <a:latin typeface="Calibri"/>
              </a:rPr>
              <a:t> Verilog HDL — </a:t>
            </a:r>
            <a:r>
              <a:rPr sz="1800" b="0" i="0" dirty="0" err="1">
                <a:solidFill>
                  <a:srgbClr val="8A96B8"/>
                </a:solidFill>
                <a:latin typeface="Calibri"/>
              </a:rPr>
              <a:t>Adunare</a:t>
            </a:r>
            <a:r>
              <a:rPr sz="1800" b="0" i="0" dirty="0">
                <a:solidFill>
                  <a:srgbClr val="8A96B8"/>
                </a:solidFill>
                <a:latin typeface="Calibri"/>
              </a:rPr>
              <a:t> · </a:t>
            </a:r>
            <a:r>
              <a:rPr sz="1800" b="0" i="0" dirty="0" err="1">
                <a:solidFill>
                  <a:srgbClr val="8A96B8"/>
                </a:solidFill>
                <a:latin typeface="Calibri"/>
              </a:rPr>
              <a:t>Scădere</a:t>
            </a:r>
            <a:r>
              <a:rPr sz="1800" b="0" i="0" dirty="0">
                <a:solidFill>
                  <a:srgbClr val="8A96B8"/>
                </a:solidFill>
                <a:latin typeface="Calibri"/>
              </a:rPr>
              <a:t> · </a:t>
            </a:r>
            <a:r>
              <a:rPr sz="1800" b="0" i="0" dirty="0" err="1">
                <a:solidFill>
                  <a:srgbClr val="8A96B8"/>
                </a:solidFill>
                <a:latin typeface="Calibri"/>
              </a:rPr>
              <a:t>Înmulțire</a:t>
            </a:r>
            <a:r>
              <a:rPr sz="1800" b="0" i="0" dirty="0">
                <a:solidFill>
                  <a:srgbClr val="8A96B8"/>
                </a:solidFill>
                <a:latin typeface="Calibri"/>
              </a:rPr>
              <a:t> · </a:t>
            </a:r>
            <a:r>
              <a:rPr sz="1800" b="0" i="0" dirty="0" err="1">
                <a:solidFill>
                  <a:srgbClr val="8A96B8"/>
                </a:solidFill>
                <a:latin typeface="Calibri"/>
              </a:rPr>
              <a:t>Împărțire</a:t>
            </a:r>
            <a:endParaRPr sz="1800" b="0" i="0" dirty="0">
              <a:solidFill>
                <a:srgbClr val="8A96B8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86000" y="5120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Verilog HDL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5120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5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8-bit Operanzi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5120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A07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 Operații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5120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0C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FSM 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1ABA49-0D34-5F6A-A938-75912C7E1907}"/>
              </a:ext>
            </a:extLst>
          </p:cNvPr>
          <p:cNvSpPr txBox="1"/>
          <p:nvPr/>
        </p:nvSpPr>
        <p:spPr>
          <a:xfrm>
            <a:off x="146304" y="5920740"/>
            <a:ext cx="269748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400" b="0" i="0" dirty="0" err="1">
                <a:solidFill>
                  <a:srgbClr val="8A96B8"/>
                </a:solidFill>
                <a:latin typeface="Calibri"/>
              </a:rPr>
              <a:t>Dămoc</a:t>
            </a:r>
            <a:r>
              <a:rPr lang="en-US" sz="1400" b="0" i="0" dirty="0">
                <a:solidFill>
                  <a:srgbClr val="8A96B8"/>
                </a:solidFill>
                <a:latin typeface="Calibri"/>
              </a:rPr>
              <a:t> Ionuţ-Damian</a:t>
            </a:r>
          </a:p>
          <a:p>
            <a:r>
              <a:rPr lang="en-US" sz="1400" b="0" i="0" dirty="0">
                <a:solidFill>
                  <a:srgbClr val="8A96B8"/>
                </a:solidFill>
                <a:latin typeface="Calibri"/>
              </a:rPr>
              <a:t>Dincă Bogdan-Alexandru</a:t>
            </a:r>
          </a:p>
          <a:p>
            <a:r>
              <a:rPr lang="en-US" sz="1400" b="0" i="0" dirty="0" err="1">
                <a:solidFill>
                  <a:srgbClr val="8A96B8"/>
                </a:solidFill>
                <a:latin typeface="Calibri"/>
              </a:rPr>
              <a:t>Dragoş</a:t>
            </a:r>
            <a:r>
              <a:rPr lang="en-US" sz="1400" b="0" i="0" dirty="0">
                <a:solidFill>
                  <a:srgbClr val="8A96B8"/>
                </a:solidFill>
                <a:latin typeface="Calibri"/>
              </a:rPr>
              <a:t>-Sabău Alexandra-Claudia</a:t>
            </a:r>
          </a:p>
          <a:p>
            <a:r>
              <a:rPr lang="en-US" sz="1400" b="0" i="0" dirty="0" err="1">
                <a:solidFill>
                  <a:srgbClr val="8A96B8"/>
                </a:solidFill>
                <a:latin typeface="Calibri"/>
              </a:rPr>
              <a:t>Dragoş</a:t>
            </a:r>
            <a:r>
              <a:rPr lang="en-US" sz="1400" b="0" i="0" dirty="0">
                <a:solidFill>
                  <a:srgbClr val="8A96B8"/>
                </a:solidFill>
                <a:latin typeface="Calibri"/>
              </a:rPr>
              <a:t> Samuel</a:t>
            </a:r>
            <a:endParaRPr sz="1400" b="0" i="0" dirty="0">
              <a:solidFill>
                <a:srgbClr val="8A96B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Ce Este un ALU?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Arithmetic Logic Unit — inima unui procesor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4A90E2"/>
                </a:solidFill>
                <a:latin typeface="Calibri"/>
              </a:rPr>
              <a:t>Definiție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6675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ALU (Arithmetic Logic Unit) este blocul central al unui procesor care execută operații aritmetice și logice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Primește operanzi de la regiștri și returnează un rezultat + flaguri de stare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Prezent în orice CPU, microcontroller sau FPGA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4A90E2"/>
                </a:solidFill>
                <a:latin typeface="Calibri"/>
              </a:rPr>
              <a:t>ALU-ul nostru — specificații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1568"/>
            <a:ext cx="66751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Operanzi: 2 × 8 biți fără semn (adunare/scădere/împărțire) sau cu semn (înmulțire)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Rezultat: magistrală unificată pe 16 biți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4 operații: ADD · SUB · MUL (Booth radix-4) · DIV (radix-2 restaurativ)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Protocol de sincronizare: start / done cu FSM intern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AEEF7"/>
                </a:solidFill>
                <a:latin typeface="Calibri"/>
              </a:rPr>
              <a:t>• Implementare 100% structurală — fără operatori aritmetici comportamentali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097280"/>
            <a:ext cx="4206240" cy="5212080"/>
          </a:xfrm>
          <a:prstGeom prst="roundRect">
            <a:avLst>
              <a:gd name="adj" fmla="val 5000"/>
            </a:avLst>
          </a:prstGeom>
          <a:solidFill>
            <a:srgbClr val="17223C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23444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90E2"/>
                </a:solidFill>
                <a:latin typeface="Calibri"/>
              </a:rPr>
              <a:t>Harta Opcode-urilor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9164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8A96B8"/>
                </a:solidFill>
                <a:latin typeface="Calibri"/>
              </a:rPr>
              <a:t>opcode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69164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8A96B8"/>
                </a:solidFill>
                <a:latin typeface="Calibri"/>
              </a:rPr>
              <a:t>Operație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6916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8A96B8"/>
                </a:solidFill>
                <a:latin typeface="Calibri"/>
              </a:rPr>
              <a:t>Result[15:0]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49631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A90E2"/>
                </a:solidFill>
                <a:latin typeface="Consolas"/>
              </a:rPr>
              <a:t>2'b00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9631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Adunare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496312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50C896"/>
                </a:solidFill>
                <a:latin typeface="Consolas"/>
              </a:rPr>
              <a:t>{8'b0, sum[7:0]}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0098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A90E2"/>
                </a:solidFill>
                <a:latin typeface="Consolas"/>
              </a:rPr>
              <a:t>2'b01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300984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Scădere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300984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50C896"/>
                </a:solidFill>
                <a:latin typeface="Consolas"/>
              </a:rPr>
              <a:t>{8'b0, diff[7:0]}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10565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A90E2"/>
                </a:solidFill>
                <a:latin typeface="Consolas"/>
              </a:rPr>
              <a:t>2'b10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105656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Înmulțire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105656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50C896"/>
                </a:solidFill>
                <a:latin typeface="Consolas"/>
              </a:rPr>
              <a:t>product[15:0]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91032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4A90E2"/>
                </a:solidFill>
                <a:latin typeface="Consolas"/>
              </a:rPr>
              <a:t>2'b11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49103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Împărțire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4910328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50C896"/>
                </a:solidFill>
                <a:latin typeface="Consolas"/>
              </a:rPr>
              <a:t>{rem[7:0], quot[7:0]}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Arhitectura Sistemului — alu_top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Nivelul de integrare al întregului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alu_top — modul de integrare la nivel superior</a:t>
            </a:r>
          </a:p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control_unit — FSM cu 4 stări (IDLE→LOAD→EXEC→DONE)</a:t>
            </a:r>
          </a:p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adder_substractor — motor ADD/SUB</a:t>
            </a:r>
          </a:p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booth_radix_4_multiplier — motor MUL</a:t>
            </a:r>
          </a:p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radix2_div — motor DIV</a:t>
            </a:r>
          </a:p>
          <a:p>
            <a:pPr algn="l">
              <a:spcAft>
                <a:spcPts val="800"/>
              </a:spcAft>
            </a:pPr>
            <a:r>
              <a:rPr sz="1450">
                <a:solidFill>
                  <a:srgbClr val="EAEEF7"/>
                </a:solidFill>
                <a:latin typeface="Calibri"/>
              </a:rPr>
              <a:t>• Primitive comune: carry_select_adder, xor_wordgate, mux2to1, register_8bit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A90E2"/>
                </a:solidFill>
                <a:latin typeface="Calibri"/>
              </a:rPr>
              <a:t>Multiplexarea rezultatelor (structural):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519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4370832"/>
            <a:ext cx="4791456" cy="2048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mux2to1 #(.w(16)) mux_muldiv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.in0(mul_result),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.in1({div_rem, div_quot}),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.sel(opcode[0]),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.out(result_muldiv));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mux2to1 #(.w(16)) mux_final (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.in0({8'b0, addsub_result}),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.in1(result_muldiv),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.sel(opcode[1]),</a:t>
            </a:r>
          </a:p>
          <a:p>
            <a:pPr algn="l">
              <a:spcAft>
                <a:spcPts val="0"/>
              </a:spcAft>
            </a:pPr>
            <a:r>
              <a:rPr sz="1000">
                <a:solidFill>
                  <a:srgbClr val="CDE8FF"/>
                </a:solidFill>
                <a:latin typeface="Consolas"/>
              </a:rPr>
              <a:t>  .out(result));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005840"/>
            <a:ext cx="6217920" cy="5577840"/>
          </a:xfrm>
          <a:prstGeom prst="roundRect">
            <a:avLst>
              <a:gd name="adj" fmla="val 3000"/>
            </a:avLst>
          </a:prstGeom>
          <a:solidFill>
            <a:srgbClr val="17223C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hatsApp Image 2026-04-24 at 19.25.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1069848"/>
            <a:ext cx="6089904" cy="54498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Interfața Externă — Porturile alu_top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src/alu_top.v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11460175" cy="3657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Semnal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078992"/>
            <a:ext cx="8686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078992"/>
            <a:ext cx="685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Lățime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1078992"/>
            <a:ext cx="79552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11460175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4721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clk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147218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472184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1472184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Ceas sistem — front crescător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892808"/>
            <a:ext cx="11460175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947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194767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947672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1947672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Reset asincron, activ HIGH — resetează FSM + regiștri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68296"/>
            <a:ext cx="11460175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4231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42316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2423160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59" y="2423160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Cerere operație — 1 ciclu suficient; menținut până la done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843784"/>
            <a:ext cx="11460175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289864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opcode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289864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289864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59" y="2898648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Selector: 00=ADD  01=SUB  10=MUL  11=DIV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19272"/>
            <a:ext cx="11460175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" y="337413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A_raw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37413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3374136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59" y="3374136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Operand A — reținut în starea 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794760"/>
            <a:ext cx="11460175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384962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B_raw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38496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3849624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59" y="3849624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Operand B — reținut în starea LOAD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70248"/>
            <a:ext cx="11460175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432511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32511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0" y="4325112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59" y="4325112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Magistrală unificată de rezultat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745736"/>
            <a:ext cx="11460175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4800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carry_out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80060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out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0" y="4800600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4759" y="4800600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Transport ieșire — valid doar pe calea ADD/SUB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21224"/>
            <a:ext cx="11460175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52760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overflow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52760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27608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94759" y="5276088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Depășire semn — valid doar pe calea ADD/SUB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696712"/>
            <a:ext cx="11460175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" y="575157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0C896"/>
                </a:solidFill>
                <a:latin typeface="Consolas"/>
              </a:rPr>
              <a:t>done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575157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F0C050"/>
                </a:solidFill>
                <a:latin typeface="Calibri"/>
              </a:rPr>
              <a:t>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0" y="5751576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onsolas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4759" y="5751576"/>
            <a:ext cx="7863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EAEEF7"/>
                </a:solidFill>
                <a:latin typeface="Calibri"/>
              </a:rPr>
              <a:t>Asertat în starea DONE; deasertat când start=0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Unitatea de Control — FSM cu 4 Stări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src/control/control_unit.v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90E2"/>
                </a:solidFill>
                <a:latin typeface="Calibri"/>
              </a:rPr>
              <a:t>Logica de tranziție: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490472"/>
            <a:ext cx="5065776" cy="2231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always @(*) begin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case (state)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  IDLE: next = start     ? LOAD : IDLE;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  LOAD: next = EXEC;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  EXEC: next = exec_done ? DONE : EXEC;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  DONE: next = start     ? DONE : IDLE;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  endcase</a:t>
            </a:r>
          </a:p>
          <a:p>
            <a:pPr algn="l">
              <a:spcAft>
                <a:spcPts val="0"/>
              </a:spcAft>
            </a:pPr>
            <a:r>
              <a:rPr sz="1150">
                <a:solidFill>
                  <a:srgbClr val="CDE8FF"/>
                </a:solidFill>
                <a:latin typeface="Consolas"/>
              </a:rPr>
              <a:t>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90E2"/>
                </a:solidFill>
                <a:latin typeface="Calibri"/>
              </a:rPr>
              <a:t>Ieșiri per stare: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5303520" cy="34747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3799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3799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load_en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3799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exec_start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379976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90872"/>
            <a:ext cx="5303520" cy="402336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7365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IDLE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365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7365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736592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11496"/>
            <a:ext cx="5303520" cy="402336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15721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15721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onsola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15721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157216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5303520" cy="402336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5778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EXEC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5778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5778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4A90E2"/>
                </a:solidFill>
                <a:latin typeface="Consolas"/>
              </a:rPr>
              <a:t>!busy&amp;&amp;!done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577840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52744"/>
            <a:ext cx="5303520" cy="402336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9984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9984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9984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8A96B8"/>
                </a:solidFill>
                <a:latin typeface="Consola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998464"/>
            <a:ext cx="1005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Motoarele Aritmetice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Trei nuclee specializate — toate construite structural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" y="100584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0F1E"/>
                </a:solidFill>
                <a:latin typeface="Calibri"/>
              </a:rPr>
              <a:t>ADD / SUB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1508760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8A96B8"/>
                </a:solidFill>
                <a:latin typeface="Consolas"/>
              </a:rPr>
              <a:t>adder_substractor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" y="1828800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Calea de date combinațională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sub_mode=0 → ADD,  sub_mode=1 → SUB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Scădere prin complement față de 2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Produce carry_out și overflow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Latență: 1 ciclu motor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3611880"/>
            <a:ext cx="3794760" cy="292608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" y="3730752"/>
            <a:ext cx="3557016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xor_wordgate gate(.in(op2),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.bit_in(sub_mode),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.out(op2_xor));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carry_select_adder add(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.op1(op1), .op2(op2_xor),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.c_in(sub_mode),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.result(res));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00584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5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0F1E"/>
                </a:solidFill>
                <a:latin typeface="Calibri"/>
              </a:rPr>
              <a:t>MUL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508760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8A96B8"/>
                </a:solidFill>
                <a:latin typeface="Consolas"/>
              </a:rPr>
              <a:t>booth_radix_4_multiplier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828800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Booth radix-4 cu semn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8×8 → 16 biți produs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4 iterații de recodificare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Acumulator pe 16 biți structural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Latență: 6 cicluri motor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611880"/>
            <a:ext cx="3794760" cy="292608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3672" y="3730752"/>
            <a:ext cx="3557016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dirty="0">
                <a:solidFill>
                  <a:srgbClr val="CDE8FF"/>
                </a:solidFill>
                <a:latin typeface="Consolas"/>
              </a:rPr>
              <a:t>// Booth decode →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booth_op</a:t>
            </a:r>
            <a:r>
              <a:rPr sz="950" dirty="0">
                <a:solidFill>
                  <a:srgbClr val="CDE8FF"/>
                </a:solidFill>
                <a:latin typeface="Consolas"/>
              </a:rPr>
              <a:t>,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booth_sub</a:t>
            </a:r>
            <a:endParaRPr sz="950" dirty="0">
              <a:solidFill>
                <a:srgbClr val="CDE8FF"/>
              </a:solidFill>
              <a:latin typeface="Consolas"/>
            </a:endParaRP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CDE8FF"/>
                </a:solidFill>
                <a:latin typeface="Consolas"/>
              </a:rPr>
              <a:t>xor_wordgate</a:t>
            </a:r>
            <a:r>
              <a:rPr sz="950" dirty="0">
                <a:solidFill>
                  <a:srgbClr val="CDE8FF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inv_lo</a:t>
            </a:r>
            <a:r>
              <a:rPr sz="950" dirty="0">
                <a:solidFill>
                  <a:srgbClr val="CDE8FF"/>
                </a:solidFill>
                <a:latin typeface="Consolas"/>
              </a:rPr>
              <a:t>(...);</a:t>
            </a: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CDE8FF"/>
                </a:solidFill>
                <a:latin typeface="Consolas"/>
              </a:rPr>
              <a:t>xor_wordgate</a:t>
            </a:r>
            <a:r>
              <a:rPr sz="950" dirty="0">
                <a:solidFill>
                  <a:srgbClr val="CDE8FF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inv_hi</a:t>
            </a:r>
            <a:r>
              <a:rPr sz="950" dirty="0">
                <a:solidFill>
                  <a:srgbClr val="CDE8FF"/>
                </a:solidFill>
                <a:latin typeface="Consolas"/>
              </a:rPr>
              <a:t>(...);</a:t>
            </a: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CDE8FF"/>
                </a:solidFill>
                <a:latin typeface="Consolas"/>
              </a:rPr>
              <a:t>carry_select_adder</a:t>
            </a:r>
            <a:r>
              <a:rPr sz="950" dirty="0">
                <a:solidFill>
                  <a:srgbClr val="CDE8FF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add_lo</a:t>
            </a:r>
            <a:r>
              <a:rPr sz="950" dirty="0">
                <a:solidFill>
                  <a:srgbClr val="CDE8FF"/>
                </a:solidFill>
                <a:latin typeface="Consolas"/>
              </a:rPr>
              <a:t>(...);</a:t>
            </a:r>
          </a:p>
          <a:p>
            <a:pPr algn="l">
              <a:spcAft>
                <a:spcPts val="0"/>
              </a:spcAft>
            </a:pPr>
            <a:r>
              <a:rPr sz="950" dirty="0" err="1">
                <a:solidFill>
                  <a:srgbClr val="CDE8FF"/>
                </a:solidFill>
                <a:latin typeface="Consolas"/>
              </a:rPr>
              <a:t>carry_select_adder</a:t>
            </a:r>
            <a:r>
              <a:rPr sz="950" dirty="0">
                <a:solidFill>
                  <a:srgbClr val="CDE8FF"/>
                </a:solidFill>
                <a:latin typeface="Consolas"/>
              </a:rPr>
              <a:t> </a:t>
            </a:r>
            <a:r>
              <a:rPr sz="950" dirty="0" err="1">
                <a:solidFill>
                  <a:srgbClr val="CDE8FF"/>
                </a:solidFill>
                <a:latin typeface="Consolas"/>
              </a:rPr>
              <a:t>add_hi</a:t>
            </a:r>
            <a:r>
              <a:rPr sz="950" dirty="0">
                <a:solidFill>
                  <a:srgbClr val="CDE8FF"/>
                </a:solidFill>
                <a:latin typeface="Consolas"/>
              </a:rPr>
              <a:t>(...);</a:t>
            </a:r>
          </a:p>
          <a:p>
            <a:pPr algn="l">
              <a:spcAft>
                <a:spcPts val="0"/>
              </a:spcAft>
            </a:pPr>
            <a:r>
              <a:rPr sz="950" dirty="0">
                <a:solidFill>
                  <a:srgbClr val="CDE8FF"/>
                </a:solidFill>
                <a:latin typeface="Consolas"/>
              </a:rPr>
              <a:t>// FSM: IDLE→CALC(×4)→FINISH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005840"/>
            <a:ext cx="3794760" cy="438912"/>
          </a:xfrm>
          <a:prstGeom prst="roundRect">
            <a:avLst>
              <a:gd name="adj" fmla="val 40000"/>
            </a:avLst>
          </a:prstGeom>
          <a:solidFill>
            <a:srgbClr val="F0C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80F1E"/>
                </a:solidFill>
                <a:latin typeface="Calibri"/>
              </a:rPr>
              <a:t>DIV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1508760"/>
            <a:ext cx="37947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0">
                <a:solidFill>
                  <a:srgbClr val="8A96B8"/>
                </a:solidFill>
                <a:latin typeface="Consolas"/>
              </a:rPr>
              <a:t>radix2_div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1828800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Radix-2 restaurativ fără semn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8 iterații (1 bit cât / ciclu)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Produce quotient și remainder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Restaurare prin al 2-lea sumator</a:t>
            </a:r>
          </a:p>
          <a:p>
            <a:pPr algn="l">
              <a:spcAft>
                <a:spcPts val="500"/>
              </a:spcAft>
            </a:pPr>
            <a:r>
              <a:rPr sz="1200">
                <a:solidFill>
                  <a:srgbClr val="EAEEF7"/>
                </a:solidFill>
                <a:latin typeface="Calibri"/>
              </a:rPr>
              <a:t>• Latență: 9 cicluri motor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611880"/>
            <a:ext cx="3794760" cy="292608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3730752"/>
            <a:ext cx="3557016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xor_wordgate neg_m(.in(M),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.bit_in(1'b1), .out(M_inv));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carry_select_adder sub_add(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.op1(shifted_A), .op2(M_inv),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.c_in(1'b1), .result(sub_res),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  .c_out(cout));</a:t>
            </a:r>
          </a:p>
          <a:p>
            <a:pPr algn="l">
              <a:spcAft>
                <a:spcPts val="0"/>
              </a:spcAft>
            </a:pPr>
            <a:r>
              <a:rPr sz="950">
                <a:solidFill>
                  <a:srgbClr val="CDE8FF"/>
                </a:solidFill>
                <a:latin typeface="Consolas"/>
              </a:rPr>
              <a:t>// cout=1→acceptă, else restaurează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Blocuri Structurale Comune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src/common — primitivi reutilizabili în tot design-ul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8A96B8"/>
                </a:solidFill>
                <a:latin typeface="Calibri"/>
              </a:rPr>
              <a:t>Fiecare operație aritmetică se reduce la aceste module — niciun operator comportamental (+, *, /) nu există în stratul structural.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0876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4A90E2"/>
                </a:solidFill>
                <a:latin typeface="Consolas"/>
              </a:rPr>
              <a:t>full_adder_cell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00200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Sumator complet 1 bit — primitiva de bază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76272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4A90E2"/>
                </a:solidFill>
                <a:latin typeface="Consolas"/>
              </a:rPr>
              <a:t>ripple_carry_adder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67712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Lanț sumator parametrizat cu transport în cascadă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43784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35224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4A90E2"/>
                </a:solidFill>
                <a:latin typeface="Consolas"/>
              </a:rPr>
              <a:t>adder_level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35224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Etapă carry-select: precomputare transport dublu pe 4 biți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511296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5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02736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0C896"/>
                </a:solidFill>
                <a:latin typeface="Consolas"/>
              </a:rPr>
              <a:t>carry_select_adder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602736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Sumator 8 biți: ripple pe [3:0], carry-select pe [7:4]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78808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5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70248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0C896"/>
                </a:solidFill>
                <a:latin typeface="Consolas"/>
              </a:rPr>
              <a:t>xor_wordgate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270248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XOR la nivel de cuvânt: out = in ^ {w{bit_in}} — inversare controlată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84632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5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50C896"/>
                </a:solidFill>
                <a:latin typeface="Consolas"/>
              </a:rPr>
              <a:t>mux2to1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937760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Multiplexor parametric 2:1 — selectare rezultat și operanzi Booth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513832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17223C"/>
          </a:solidFill>
          <a:ln w="9525">
            <a:solidFill>
              <a:srgbClr val="F0C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605272"/>
            <a:ext cx="27432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i="0">
                <a:solidFill>
                  <a:srgbClr val="F0C050"/>
                </a:solidFill>
                <a:latin typeface="Consolas"/>
              </a:rPr>
              <a:t>register_8bit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605272"/>
            <a:ext cx="822960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EAEEF7"/>
                </a:solidFill>
                <a:latin typeface="Calibri"/>
              </a:rPr>
              <a:t>Registru sincron 8 biți cu reset asincron — reținere operanzi în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8A96B8"/>
                </a:solidFill>
                <a:latin typeface="Calibri"/>
              </a:rPr>
              <a:t>Ierarhia de adâncime: full_adder_cell → ripple_carry_adder → adder_level → carry_select_adder → adder_substractor / booth / radix2_div → alu_top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De Ce Acești Algoritmi?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Rațiunea alegerii — claritate structurală vs. performanță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94760" cy="411480"/>
          </a:xfrm>
          <a:prstGeom prst="roundRect">
            <a:avLst>
              <a:gd name="adj" fmla="val 4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F1E"/>
                </a:solidFill>
                <a:latin typeface="Calibri"/>
              </a:rPr>
              <a:t>ADD/SUB — Carry-Select Adder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72768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O singură cale de date suportă ADD și SUB via sub_mode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22576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414016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Carry-select: mai rapid decât ripple pur la 8 biți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072384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3163824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Flaguri carry_out și overflow cu logică minimă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22192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91363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EAEEF7"/>
                </a:solidFill>
                <a:latin typeface="Calibri"/>
              </a:rPr>
              <a:t>– Duplicare sumator jumătate superioară → arie mai mare vs. ripple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051560"/>
            <a:ext cx="3794760" cy="411480"/>
          </a:xfrm>
          <a:prstGeom prst="roundRect">
            <a:avLst>
              <a:gd name="adj" fmla="val 40000"/>
            </a:avLst>
          </a:prstGeom>
          <a:solidFill>
            <a:srgbClr val="5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F1E"/>
                </a:solidFill>
                <a:latin typeface="Calibri"/>
              </a:rPr>
              <a:t>MUL — Booth Radix-4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572768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16642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Suport nativ operanzi cu semn prin recodificare Booth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2322576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399" y="2414016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+ 4 iterații vs. 8 ale radix-2 → latență înjumătățită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59" y="3072384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399" y="3163824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Amprentă moderată vs. înmulțitor paralel complet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822192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399" y="391363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EAEEF7"/>
                </a:solidFill>
                <a:latin typeface="Calibri"/>
              </a:rPr>
              <a:t>– Multi-ciclu (6 cicluri); control mai complex vs. shift-add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1051560"/>
            <a:ext cx="3794760" cy="411480"/>
          </a:xfrm>
          <a:prstGeom prst="roundRect">
            <a:avLst>
              <a:gd name="adj" fmla="val 40000"/>
            </a:avLst>
          </a:prstGeom>
          <a:solidFill>
            <a:srgbClr val="F0C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80F1E"/>
                </a:solidFill>
                <a:latin typeface="Calibri"/>
              </a:rPr>
              <a:t>DIV — Radix-2 Restaurativ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8" y="1572768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38" y="1664208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Algoritm simplu și determinist — mapare structurală directă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598" y="2322576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0E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38" y="2414016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50C896"/>
                </a:solidFill>
                <a:latin typeface="Calibri"/>
              </a:rPr>
              <a:t>+ Număr fix de iterații — ușor de verificat formal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598" y="3072384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38" y="3163824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EAEEF7"/>
                </a:solidFill>
                <a:latin typeface="Calibri"/>
              </a:rPr>
              <a:t>– Latența cea mai mare: 9 cicluri motor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598" y="3822192"/>
            <a:ext cx="3794760" cy="658368"/>
          </a:xfrm>
          <a:prstGeom prst="roundRect">
            <a:avLst>
              <a:gd name="adj" fmla="val 6000"/>
            </a:avLst>
          </a:prstGeom>
          <a:solidFill>
            <a:srgbClr val="22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38" y="3913632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 i="0">
                <a:solidFill>
                  <a:srgbClr val="EAEEF7"/>
                </a:solidFill>
                <a:latin typeface="Calibri"/>
              </a:rPr>
              <a:t>– Pasul de restaurare → muncă suplimentară la scăderi eșuate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035040"/>
            <a:ext cx="11612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0" i="1">
                <a:solidFill>
                  <a:srgbClr val="8A96B8"/>
                </a:solidFill>
                <a:latin typeface="Calibri"/>
              </a:rPr>
              <a:t>Principiu comun: toți algoritmii prioritizează claritatea structurală și reutilizarea blocurilor comune față de latența minimă.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Performanță și Latență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Ceas sistem: 10 ns  |  fclk = 100 MHz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8A96B8"/>
                </a:solidFill>
                <a:latin typeface="Calibri"/>
              </a:rPr>
              <a:t>Latența totală = 1 LOAD + dispatch EXEC + cicluri motor + 1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545336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Operație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1545336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Cicluri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54533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Cicluri nivel superior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1545336"/>
            <a:ext cx="24688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Latență @ 10 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92807"/>
            <a:ext cx="10972800" cy="493776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1965959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A90E2"/>
                </a:solidFill>
                <a:latin typeface="Consolas"/>
              </a:rPr>
              <a:t>ADD  (opcode=00)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965959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65959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1965959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4A90E2"/>
                </a:solidFill>
                <a:latin typeface="Calibri"/>
              </a:rPr>
              <a:t>40 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04871"/>
            <a:ext cx="10972800" cy="493776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478023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4A90E2"/>
                </a:solidFill>
                <a:latin typeface="Consolas"/>
              </a:rPr>
              <a:t>SUB  (opcode=01)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2478023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478023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478023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4A90E2"/>
                </a:solidFill>
                <a:latin typeface="Calibri"/>
              </a:rPr>
              <a:t>40 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16935"/>
            <a:ext cx="10972800" cy="493776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2990087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50C896"/>
                </a:solidFill>
                <a:latin typeface="Consolas"/>
              </a:rPr>
              <a:t>MUL  (opcode=10)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2990087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90087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990087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>
                <a:solidFill>
                  <a:srgbClr val="50C896"/>
                </a:solidFill>
                <a:latin typeface="Calibri"/>
              </a:rPr>
              <a:t>90 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28999"/>
            <a:ext cx="10972800" cy="493776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502151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F0C050"/>
                </a:solidFill>
                <a:latin typeface="Consolas"/>
              </a:rPr>
              <a:t>DIV  (opcode=11)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5072" y="3502151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502151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EAEEF7"/>
                </a:solidFill>
                <a:latin typeface="Calibri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3502151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i="0" dirty="0">
                <a:solidFill>
                  <a:srgbClr val="F0C050"/>
                </a:solidFill>
                <a:latin typeface="Calibri"/>
              </a:rPr>
              <a:t>120 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23360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4A90E2"/>
                </a:solidFill>
                <a:latin typeface="Calibri"/>
              </a:rPr>
              <a:t>Vizualizare latență (cicluri nivel superior):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480560"/>
            <a:ext cx="3505200" cy="502920"/>
          </a:xfrm>
          <a:prstGeom prst="roundRect">
            <a:avLst>
              <a:gd name="adj" fmla="val 3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80F1E"/>
                </a:solidFill>
                <a:latin typeface="Calibri"/>
              </a:rPr>
              <a:t>ADD: 4 cicluri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074920"/>
            <a:ext cx="3505200" cy="502920"/>
          </a:xfrm>
          <a:prstGeom prst="roundRect">
            <a:avLst>
              <a:gd name="adj" fmla="val 3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16636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80F1E"/>
                </a:solidFill>
                <a:latin typeface="Calibri"/>
              </a:rPr>
              <a:t>SUB: 4 cicluri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669280"/>
            <a:ext cx="7886700" cy="502920"/>
          </a:xfrm>
          <a:prstGeom prst="roundRect">
            <a:avLst>
              <a:gd name="adj" fmla="val 30000"/>
            </a:avLst>
          </a:prstGeom>
          <a:solidFill>
            <a:srgbClr val="5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576072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80F1E"/>
                </a:solidFill>
                <a:latin typeface="Calibri"/>
              </a:rPr>
              <a:t>MUL: 9 cicluri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6263640"/>
            <a:ext cx="10515600" cy="502920"/>
          </a:xfrm>
          <a:prstGeom prst="roundRect">
            <a:avLst>
              <a:gd name="adj" fmla="val 30000"/>
            </a:avLst>
          </a:prstGeom>
          <a:solidFill>
            <a:srgbClr val="F0C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1520" y="635508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80F1E"/>
                </a:solidFill>
                <a:latin typeface="Calibri"/>
              </a:rPr>
              <a:t>DIV: 12 cicluri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Verificare — Cum Funcționează Testbench-ul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sim/alu_tb.v  |  rulat cu: bash run.sh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90E2"/>
                </a:solidFill>
                <a:latin typeface="Calibri"/>
              </a:rPr>
              <a:t>Mecanism central — task run_op: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2926080"/>
          </a:xfrm>
          <a:prstGeom prst="roundRect">
            <a:avLst>
              <a:gd name="adj" fmla="val 4000"/>
            </a:avLst>
          </a:prstGeom>
          <a:solidFill>
            <a:srgbClr val="080F1E"/>
          </a:solidFill>
          <a:ln w="9525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490472"/>
            <a:ext cx="5248656" cy="2688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task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run_op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input [1:0] op;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input [7:0] a, b;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input [15:0] expected;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begin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opcode = op;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A_raw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 = a;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B_raw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 = b;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start = 1;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@(posedge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clk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); start = 0;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//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așteaptă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 done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wait(done === 1);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@(posedge </a:t>
            </a:r>
            <a:r>
              <a:rPr sz="1050" dirty="0" err="1">
                <a:solidFill>
                  <a:srgbClr val="CDE8FF"/>
                </a:solidFill>
                <a:latin typeface="Consolas"/>
              </a:rPr>
              <a:t>clk</a:t>
            </a:r>
            <a:r>
              <a:rPr sz="1050" dirty="0">
                <a:solidFill>
                  <a:srgbClr val="CDE8FF"/>
                </a:solidFill>
                <a:latin typeface="Consolas"/>
              </a:rPr>
              <a:t>);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if (result !== expected)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  $fatal(1, "FAIL: ...");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else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    $display("PASS");</a:t>
            </a:r>
          </a:p>
          <a:p>
            <a:pPr algn="l">
              <a:spcAft>
                <a:spcPts val="0"/>
              </a:spcAft>
            </a:pPr>
            <a:r>
              <a:rPr sz="1050" dirty="0">
                <a:solidFill>
                  <a:srgbClr val="CDE8FF"/>
                </a:solidFill>
                <a:latin typeface="Consolas"/>
              </a:rPr>
              <a:t>  end</a:t>
            </a:r>
          </a:p>
          <a:p>
            <a:pPr algn="l">
              <a:spcAft>
                <a:spcPts val="0"/>
              </a:spcAft>
            </a:pPr>
            <a:r>
              <a:rPr sz="1050" dirty="0" err="1">
                <a:solidFill>
                  <a:srgbClr val="CDE8FF"/>
                </a:solidFill>
                <a:latin typeface="Consolas"/>
              </a:rPr>
              <a:t>endtask</a:t>
            </a:r>
            <a:endParaRPr sz="1050" dirty="0">
              <a:solidFill>
                <a:srgbClr val="CDE8FF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4A90E2"/>
                </a:solidFill>
                <a:latin typeface="Calibri"/>
              </a:rPr>
              <a:t>Acoperire cazuri de test: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669280" cy="457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1790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Testbench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179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Fișier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51790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Cazuri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56816"/>
            <a:ext cx="5669280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Integrat ALU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sim/alu_tb.v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20116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32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450592"/>
            <a:ext cx="5669280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50545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  ↳ Adunare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0545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8 cazuri directe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250545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2944368"/>
            <a:ext cx="5669280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9992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  ↳ Scădere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9923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7 cazuri directe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299923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438144"/>
            <a:ext cx="5669280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349300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  ↳ Înmulțire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930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8 cazuri directe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49300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5669280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986784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  ↳ Împărțire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8678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9 cazuri directe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398678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425696"/>
            <a:ext cx="5669280" cy="457200"/>
          </a:xfrm>
          <a:prstGeom prst="rect">
            <a:avLst/>
          </a:prstGeom>
          <a:solidFill>
            <a:srgbClr val="1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4805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Multiplier 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4805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booth_radix_4_multiplier_tb.v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44805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10 + 30 random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919472"/>
            <a:ext cx="5669280" cy="45720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497433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50C896"/>
                </a:solidFill>
                <a:latin typeface="Calibri"/>
              </a:rPr>
              <a:t>Divider unit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97433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8A96B8"/>
                </a:solidFill>
                <a:latin typeface="Consolas"/>
              </a:rPr>
              <a:t>Radix2_tb.v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497433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0C050"/>
                </a:solidFill>
                <a:latin typeface="Calibri"/>
              </a:rPr>
              <a:t>14 cazuri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43484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>
                <a:solidFill>
                  <a:srgbClr val="EAEEF7"/>
                </a:solidFill>
                <a:latin typeface="Calibri"/>
              </a:rPr>
              <a:t>• Orice nepotrivire → $fatal oprește simularea imediat</a:t>
            </a:r>
          </a:p>
          <a:p>
            <a:pPr algn="l">
              <a:spcAft>
                <a:spcPts val="800"/>
              </a:spcAft>
            </a:pPr>
            <a:r>
              <a:rPr sz="1350">
                <a:solidFill>
                  <a:srgbClr val="EAEEF7"/>
                </a:solidFill>
                <a:latin typeface="Calibri"/>
              </a:rPr>
              <a:t>• Timeout 40 cicluri pentru MUL (evitare blocare)</a:t>
            </a:r>
          </a:p>
          <a:p>
            <a:pPr algn="l">
              <a:spcAft>
                <a:spcPts val="800"/>
              </a:spcAft>
            </a:pPr>
            <a:r>
              <a:rPr sz="1350">
                <a:solidFill>
                  <a:srgbClr val="EAEEF7"/>
                </a:solidFill>
                <a:latin typeface="Calibri"/>
              </a:rPr>
              <a:t>• Generează fișiere .vcd pentru vizualizare forme de undă</a:t>
            </a:r>
          </a:p>
          <a:p>
            <a:pPr algn="l">
              <a:spcAft>
                <a:spcPts val="800"/>
              </a:spcAft>
            </a:pPr>
            <a:r>
              <a:rPr sz="1350">
                <a:solidFill>
                  <a:srgbClr val="EAEEF7"/>
                </a:solidFill>
                <a:latin typeface="Calibri"/>
              </a:rPr>
              <a:t>• 30 cazuri random prin $random în testbench-ul MUL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"/>
            <a:ext cx="112471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EAEEF7"/>
                </a:solidFill>
                <a:latin typeface="Calibri"/>
              </a:rPr>
              <a:t>Rezultate Simulare —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8A96B8"/>
                </a:solidFill>
                <a:latin typeface="Calibri"/>
              </a:rPr>
              <a:t>Capturi din rularea efectivă a testbench-ului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721608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 dirty="0" err="1">
                <a:solidFill>
                  <a:srgbClr val="8A96B8"/>
                </a:solidFill>
                <a:latin typeface="Calibri"/>
              </a:rPr>
              <a:t>Formă</a:t>
            </a:r>
            <a:r>
              <a:rPr sz="950" b="0" i="0" dirty="0">
                <a:solidFill>
                  <a:srgbClr val="8A96B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8A96B8"/>
                </a:solidFill>
                <a:latin typeface="Calibri"/>
              </a:rPr>
              <a:t>undă</a:t>
            </a:r>
            <a:r>
              <a:rPr sz="950" b="0" i="0" dirty="0">
                <a:solidFill>
                  <a:srgbClr val="8A96B8"/>
                </a:solidFill>
                <a:latin typeface="Calibri"/>
              </a:rPr>
              <a:t> 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721608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8A96B8"/>
                </a:solidFill>
                <a:latin typeface="Calibri"/>
              </a:rPr>
              <a:t>Formă undă SUB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21608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8A96B8"/>
                </a:solidFill>
                <a:latin typeface="Calibri"/>
              </a:rPr>
              <a:t>Formă undă MUL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56248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8A96B8"/>
                </a:solidFill>
                <a:latin typeface="Calibri"/>
              </a:rPr>
              <a:t>Formă undă DIV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6355080"/>
            <a:ext cx="374903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0">
                <a:solidFill>
                  <a:srgbClr val="8A96B8"/>
                </a:solidFill>
                <a:latin typeface="Calibri"/>
              </a:rPr>
              <a:t>Output consolă testbench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0588BED-6B04-A66E-4F71-07862EF0D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790" y="980694"/>
            <a:ext cx="3250439" cy="269748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D70174E-569B-6EDA-343F-197786D89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6" y="1143000"/>
            <a:ext cx="4114802" cy="244215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3BCB061-8D60-A570-CFF2-132938369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051" y="1143000"/>
            <a:ext cx="4201503" cy="231309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3679961-159B-321E-B1EF-111AB7D3A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465" y="4197096"/>
            <a:ext cx="4030197" cy="195752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5B6B3B0-2AD8-7B18-D2F1-CAC1706ED9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67" r="11136"/>
          <a:stretch>
            <a:fillRect/>
          </a:stretch>
        </p:blipFill>
        <p:spPr>
          <a:xfrm>
            <a:off x="5215295" y="4197096"/>
            <a:ext cx="5239512" cy="20427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AA88-A412-936D-B130-A075FEBC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744574-58AC-BF07-A3CB-69D29CE64636}"/>
              </a:ext>
            </a:extLst>
          </p:cNvPr>
          <p:cNvSpPr/>
          <p:nvPr/>
        </p:nvSpPr>
        <p:spPr>
          <a:xfrm>
            <a:off x="305" y="9144"/>
            <a:ext cx="12191695" cy="685800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B3183-9A16-0D4F-EC82-46076BAB0AF8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7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B5AE7E-74C3-5D94-C16A-B1713B2834EA}"/>
              </a:ext>
            </a:extLst>
          </p:cNvPr>
          <p:cNvSpPr/>
          <p:nvPr/>
        </p:nvSpPr>
        <p:spPr>
          <a:xfrm>
            <a:off x="0" y="868680"/>
            <a:ext cx="12191695" cy="5029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6C8F6-4BA0-4CE3-6F0C-707CFDBFFA43}"/>
              </a:ext>
            </a:extLst>
          </p:cNvPr>
          <p:cNvSpPr txBox="1"/>
          <p:nvPr/>
        </p:nvSpPr>
        <p:spPr>
          <a:xfrm>
            <a:off x="376824" y="199159"/>
            <a:ext cx="1124712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2700" b="1" dirty="0" err="1">
                <a:solidFill>
                  <a:srgbClr val="EAEEF7"/>
                </a:solidFill>
                <a:latin typeface="Calibri"/>
              </a:rPr>
              <a:t>Diagrama</a:t>
            </a:r>
            <a:r>
              <a:rPr lang="en-US" sz="2700" b="1" dirty="0">
                <a:solidFill>
                  <a:srgbClr val="EAEEF7"/>
                </a:solidFill>
                <a:latin typeface="Calibri"/>
              </a:rPr>
              <a:t> </a:t>
            </a:r>
            <a:r>
              <a:rPr lang="en-US" sz="2700" b="1" dirty="0" err="1">
                <a:solidFill>
                  <a:srgbClr val="EAEEF7"/>
                </a:solidFill>
                <a:latin typeface="Calibri"/>
              </a:rPr>
              <a:t>circuitului</a:t>
            </a:r>
            <a:endParaRPr sz="2700" b="1" i="0" dirty="0">
              <a:solidFill>
                <a:srgbClr val="EAEEF7"/>
              </a:solidFill>
              <a:latin typeface="Calibri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1219A1-B25B-AF7B-E552-FAE7B7755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747" y="1018422"/>
            <a:ext cx="7891273" cy="564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1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1675</Words>
  <Application>Microsoft Office PowerPoint</Application>
  <PresentationFormat>Widescreen</PresentationFormat>
  <Paragraphs>298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Dragos (Nokia)</cp:lastModifiedBy>
  <cp:revision>3</cp:revision>
  <dcterms:created xsi:type="dcterms:W3CDTF">2013-01-27T09:14:16Z</dcterms:created>
  <dcterms:modified xsi:type="dcterms:W3CDTF">2026-04-24T17:16:52Z</dcterms:modified>
  <cp:category/>
</cp:coreProperties>
</file>